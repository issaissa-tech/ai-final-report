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41732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Arial"/>
              </a:rPr>
              <a:t>Source Code Explanation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14600"/>
            <a:ext cx="102412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0">
                <a:solidFill>
                  <a:srgbClr val="222222"/>
                </a:solidFill>
                <a:latin typeface="Arial"/>
              </a:rPr>
              <a:t>AI-final-report: ChinaXiv-style survey paper reproducibility package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0"/>
            <a:ext cx="102412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595959"/>
                </a:solidFill>
                <a:latin typeface="Arial"/>
              </a:rPr>
              <a:t>Presenter: ISSA ISSA RASHID | Repository: https://github.com/IssaIssa-tech/AI-final-report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46520"/>
            <a:ext cx="11201400" cy="9144"/>
          </a:xfrm>
          <a:prstGeom prst="rect">
            <a:avLst/>
          </a:prstGeom>
          <a:solidFill>
            <a:srgbClr val="A0A0A0"/>
          </a:solidFill>
          <a:ln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201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95959"/>
                </a:solidFill>
                <a:latin typeface="Arial"/>
              </a:rPr>
              <a:t>AI-final-report code explanation | https://github.com/IssaIssa-tech/AI-final-report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4E79"/>
                </a:solidFill>
                <a:latin typeface="Arial"/>
              </a:rPr>
              <a:t>1. What the Code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95959"/>
                </a:solidFill>
                <a:latin typeface="Arial"/>
              </a:rPr>
              <a:t>The code supports reproducibility for a survey paper, not model training.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Validates that all citations in paper.md exist in references.bib.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Generates Markdown taxonomy tables from CSV source data.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Generates academic grayscale figures from the taxonomy CSV files.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Formats the manuscript into ChinaXiv-style Markdown and Word files.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Compares the final PDF layout against the provided ChinaXiv sample.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234440"/>
            <a:ext cx="5120640" cy="4389120"/>
          </a:xfrm>
          <a:prstGeom prst="rect">
            <a:avLst/>
          </a:prstGeom>
          <a:solidFill>
            <a:srgbClr val="F5F5F5"/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282828"/>
                </a:solidFill>
                <a:latin typeface="Consolas"/>
              </a:rPr>
              <a:t>python scripts/validate_references.py</a:t>
            </a:r>
            <a:br/>
            <a:r>
              <a:rPr sz="1000">
                <a:solidFill>
                  <a:srgbClr val="282828"/>
                </a:solidFill>
                <a:latin typeface="Consolas"/>
              </a:rPr>
              <a:t>python scripts/generate_tables.py</a:t>
            </a:r>
            <a:br/>
            <a:r>
              <a:rPr sz="1000">
                <a:solidFill>
                  <a:srgbClr val="282828"/>
                </a:solidFill>
                <a:latin typeface="Consolas"/>
              </a:rPr>
              <a:t>python scripts/generate_figures.py</a:t>
            </a:r>
            <a:br/>
            <a:r>
              <a:rPr sz="1000">
                <a:solidFill>
                  <a:srgbClr val="282828"/>
                </a:solidFill>
                <a:latin typeface="Consolas"/>
              </a:rPr>
              <a:t>python scripts/format_chinaxiv.py</a:t>
            </a:r>
            <a:br/>
            <a:r>
              <a:rPr sz="1000">
                <a:solidFill>
                  <a:srgbClr val="282828"/>
                </a:solidFill>
                <a:latin typeface="Consolas"/>
              </a:rPr>
              <a:t>python scripts/compare_chinaxiv_layout.py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46520"/>
            <a:ext cx="11201400" cy="9144"/>
          </a:xfrm>
          <a:prstGeom prst="rect">
            <a:avLst/>
          </a:prstGeom>
          <a:solidFill>
            <a:srgbClr val="A0A0A0"/>
          </a:solidFill>
          <a:ln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1201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95959"/>
                </a:solidFill>
                <a:latin typeface="Arial"/>
              </a:rPr>
              <a:t>AI-final-report code explanation | https://github.com/IssaIssa-tech/AI-final-report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4E79"/>
                </a:solidFill>
                <a:latin typeface="Arial"/>
              </a:rPr>
              <a:t>2. Reproducible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95959"/>
                </a:solidFill>
                <a:latin typeface="Arial"/>
              </a:rPr>
              <a:t>Each output is generated from editable source files.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08760"/>
            <a:ext cx="2651760" cy="2194560"/>
          </a:xfrm>
          <a:prstGeom prst="roundRect">
            <a:avLst/>
          </a:prstGeom>
          <a:solidFill>
            <a:srgbClr val="DDEB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1F4E79"/>
                </a:solidFill>
                <a:latin typeface="Arial"/>
              </a:rPr>
              <a:t>Inputs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paper.md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references.bib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model_taxonomy.csv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benchmark_taxonomy.csv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91839" y="1508760"/>
            <a:ext cx="2651760" cy="2194560"/>
          </a:xfrm>
          <a:prstGeom prst="roundRect">
            <a:avLst/>
          </a:prstGeom>
          <a:solidFill>
            <a:srgbClr val="DDEB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1F4E79"/>
                </a:solidFill>
                <a:latin typeface="Arial"/>
              </a:rPr>
              <a:t>Validation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validate_references.py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checks citation keys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prevents missing references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80759" y="1508760"/>
            <a:ext cx="2651760" cy="2194560"/>
          </a:xfrm>
          <a:prstGeom prst="roundRect">
            <a:avLst/>
          </a:prstGeom>
          <a:solidFill>
            <a:srgbClr val="DDEB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1F4E79"/>
                </a:solidFill>
                <a:latin typeface="Arial"/>
              </a:rPr>
              <a:t>Generation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generate_tables.py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generate_figures.py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format_chinaxiv.py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69680" y="1508760"/>
            <a:ext cx="2651760" cy="2194560"/>
          </a:xfrm>
          <a:prstGeom prst="roundRect">
            <a:avLst/>
          </a:prstGeom>
          <a:solidFill>
            <a:srgbClr val="DDEB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1F4E79"/>
                </a:solidFill>
                <a:latin typeface="Arial"/>
              </a:rPr>
              <a:t>Outputs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paper_chinaxiv.md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paper_chinaxiv.docx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final PDF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comparison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251960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  <a:latin typeface="Arial"/>
              </a:rPr>
              <a:t>Main defense point: the paper is reproducible because its tables, figures, citations, and formatting can be regenerated.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  <a:latin typeface="Arial"/>
              </a:rPr>
              <a:t>The scripts do not invent experimental scores; they transform and verify documented survey materials.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46520"/>
            <a:ext cx="11201400" cy="9144"/>
          </a:xfrm>
          <a:prstGeom prst="rect">
            <a:avLst/>
          </a:prstGeom>
          <a:solidFill>
            <a:srgbClr val="A0A0A0"/>
          </a:solidFill>
          <a:ln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10528"/>
            <a:ext cx="11201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95959"/>
                </a:solidFill>
                <a:latin typeface="Arial"/>
              </a:rPr>
              <a:t>AI-final-report code explanation | https://github.com/IssaIssa-tech/AI-final-report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4E79"/>
                </a:solidFill>
                <a:latin typeface="Arial"/>
              </a:rPr>
              <a:t>3. validate_references.py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95959"/>
                </a:solidFill>
                <a:latin typeface="Arial"/>
              </a:rPr>
              <a:t>Purpose: make sure every cited paper has a bibliography entry.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Reads paper/paper.md and paper/references.bib.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Uses regular expressions to find citation keys like [@radford2021clip].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Uses another regular expression to extract BibTeX keys from references.bib.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Fails with exit code 1 if a cited key is missing.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Current check: 67 citation keys and 67 bibliography entries.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234440"/>
            <a:ext cx="5120640" cy="4389120"/>
          </a:xfrm>
          <a:prstGeom prst="rect">
            <a:avLst/>
          </a:prstGeom>
          <a:solidFill>
            <a:srgbClr val="F5F5F5"/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282828"/>
                </a:solidFill>
                <a:latin typeface="Consolas"/>
              </a:rPr>
              <a:t>CITATION_PATTERN = re.compile(r"\[@([A-Za-z0-9:_-]+)\]")</a:t>
            </a:r>
            <a:br/>
            <a:r>
              <a:rPr sz="1000">
                <a:solidFill>
                  <a:srgbClr val="282828"/>
                </a:solidFill>
                <a:latin typeface="Consolas"/>
              </a:rPr>
              <a:t>BIBKEY_PATTERN = re.compile(r"@\w+\{([^,]+),")</a:t>
            </a:r>
            <a:br/>
            <a:br/>
            <a:r>
              <a:rPr sz="1000">
                <a:solidFill>
                  <a:srgbClr val="282828"/>
                </a:solidFill>
                <a:latin typeface="Consolas"/>
              </a:rPr>
              <a:t>missing = sorted(cited_keys - bib_keys)</a:t>
            </a:r>
            <a:br/>
            <a:r>
              <a:rPr sz="1000">
                <a:solidFill>
                  <a:srgbClr val="282828"/>
                </a:solidFill>
                <a:latin typeface="Consolas"/>
              </a:rPr>
              <a:t>if missing:</a:t>
            </a:r>
            <a:br/>
            <a:r>
              <a:rPr sz="1000">
                <a:solidFill>
                  <a:srgbClr val="282828"/>
                </a:solidFill>
                <a:latin typeface="Consolas"/>
              </a:rPr>
              <a:t>    raise SystemExit(1)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46520"/>
            <a:ext cx="11201400" cy="9144"/>
          </a:xfrm>
          <a:prstGeom prst="rect">
            <a:avLst/>
          </a:prstGeom>
          <a:solidFill>
            <a:srgbClr val="A0A0A0"/>
          </a:solidFill>
          <a:ln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1201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95959"/>
                </a:solidFill>
                <a:latin typeface="Arial"/>
              </a:rPr>
              <a:t>AI-final-report code explanation | https://github.com/IssaIssa-tech/AI-final-report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4E79"/>
                </a:solidFill>
                <a:latin typeface="Arial"/>
              </a:rPr>
              <a:t>4. generate_tables.py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95959"/>
                </a:solidFill>
                <a:latin typeface="Arial"/>
              </a:rPr>
              <a:t>Purpose: regenerate survey tables from CSV files.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Inputs are structured CSV files in paper/tables/.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The script uses Python csv.DictReader instead of manual string parsing.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Outputs Markdown tables to results/tables/.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This makes table updates auditable: edit CSV, rerun script, compare output.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234440"/>
            <a:ext cx="5120640" cy="4389120"/>
          </a:xfrm>
          <a:prstGeom prst="rect">
            <a:avLst/>
          </a:prstGeom>
          <a:solidFill>
            <a:srgbClr val="F5F5F5"/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282828"/>
                </a:solidFill>
                <a:latin typeface="Consolas"/>
              </a:rPr>
              <a:t>for csv_path in sorted(PAPER_TABLES.glob("*.csv")):</a:t>
            </a:r>
            <a:br/>
            <a:r>
              <a:rPr sz="1000">
                <a:solidFill>
                  <a:srgbClr val="282828"/>
                </a:solidFill>
                <a:latin typeface="Consolas"/>
              </a:rPr>
              <a:t>    rows = read_csv(csv_path)</a:t>
            </a:r>
            <a:br/>
            <a:r>
              <a:rPr sz="1000">
                <a:solidFill>
                  <a:srgbClr val="282828"/>
                </a:solidFill>
                <a:latin typeface="Consolas"/>
              </a:rPr>
              <a:t>    output_path = RESULT_TABLES / f"{csv_path.stem}.md"</a:t>
            </a:r>
            <a:br/>
            <a:r>
              <a:rPr sz="1000">
                <a:solidFill>
                  <a:srgbClr val="282828"/>
                </a:solidFill>
                <a:latin typeface="Consolas"/>
              </a:rPr>
              <a:t>    write_markdown_table(rows, output_path)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46520"/>
            <a:ext cx="11201400" cy="9144"/>
          </a:xfrm>
          <a:prstGeom prst="rect">
            <a:avLst/>
          </a:prstGeom>
          <a:solidFill>
            <a:srgbClr val="A0A0A0"/>
          </a:solidFill>
          <a:ln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1201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95959"/>
                </a:solidFill>
                <a:latin typeface="Arial"/>
              </a:rPr>
              <a:t>AI-final-report code explanation | https://github.com/IssaIssa-tech/AI-final-report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4E79"/>
                </a:solidFill>
                <a:latin typeface="Arial"/>
              </a:rPr>
              <a:t>5. generate_figures.py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95959"/>
                </a:solidFill>
                <a:latin typeface="Arial"/>
              </a:rPr>
              <a:t>Purpose: draw standard academic charts from survey metadata.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Reads the model and benchmark CSV files.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Counts representative items by publication year using Counter.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Creates grayscale, print-friendly charts with Matplotlib.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Saves 300 DPI images into paper/figures/.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The charts are based on transparent metadata, not fabricated experiment results.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234440"/>
            <a:ext cx="5120640" cy="4389120"/>
          </a:xfrm>
          <a:prstGeom prst="rect">
            <a:avLst/>
          </a:prstGeom>
          <a:solidFill>
            <a:srgbClr val="F5F5F5"/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282828"/>
                </a:solidFill>
                <a:latin typeface="Consolas"/>
              </a:rPr>
              <a:t>counts = Counter(row["year"] for row in rows)</a:t>
            </a:r>
            <a:br/>
            <a:r>
              <a:rPr sz="1000">
                <a:solidFill>
                  <a:srgbClr val="282828"/>
                </a:solidFill>
                <a:latin typeface="Consolas"/>
              </a:rPr>
              <a:t>years = sorted(counts)</a:t>
            </a:r>
            <a:br/>
            <a:r>
              <a:rPr sz="1000">
                <a:solidFill>
                  <a:srgbClr val="282828"/>
                </a:solidFill>
                <a:latin typeface="Consolas"/>
              </a:rPr>
              <a:t>values = [counts[year] for year in years]</a:t>
            </a:r>
            <a:br/>
            <a:br/>
            <a:r>
              <a:rPr sz="1000">
                <a:solidFill>
                  <a:srgbClr val="282828"/>
                </a:solidFill>
                <a:latin typeface="Consolas"/>
              </a:rPr>
              <a:t>plt.savefig(FIG_DIR / "model_timeline.png", dpi=300)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46520"/>
            <a:ext cx="11201400" cy="9144"/>
          </a:xfrm>
          <a:prstGeom prst="rect">
            <a:avLst/>
          </a:prstGeom>
          <a:solidFill>
            <a:srgbClr val="A0A0A0"/>
          </a:solidFill>
          <a:ln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1201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95959"/>
                </a:solidFill>
                <a:latin typeface="Arial"/>
              </a:rPr>
              <a:t>AI-final-report code explanation | https://github.com/IssaIssa-tech/AI-final-report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4E79"/>
                </a:solidFill>
                <a:latin typeface="Arial"/>
              </a:rPr>
              <a:t>6. format_chinaxiv.py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95959"/>
                </a:solidFill>
                <a:latin typeface="Arial"/>
              </a:rPr>
              <a:t>Purpose: produce the final ChinaXiv-style manuscript files.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Converts draft citation keys into numbered citations.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Formats references in a GB/T 7714-like numbered style.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Inserts compact taxonomy tables and generated figures.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Creates paper_chinaxiv.md and paper_chinaxiv.docx.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Sets Letter page size, narrow margins, 10 pt body text, 12 pt headings, and a footer rule.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234440"/>
            <a:ext cx="5120640" cy="4389120"/>
          </a:xfrm>
          <a:prstGeom prst="rect">
            <a:avLst/>
          </a:prstGeom>
          <a:solidFill>
            <a:srgbClr val="F5F5F5"/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282828"/>
                </a:solidFill>
                <a:latin typeface="Consolas"/>
              </a:rPr>
              <a:t>order = citation_order(original)</a:t>
            </a:r>
            <a:br/>
            <a:r>
              <a:rPr sz="1000">
                <a:solidFill>
                  <a:srgbClr val="282828"/>
                </a:solidFill>
                <a:latin typeface="Consolas"/>
              </a:rPr>
              <a:t>text = replace_citations(original, order)</a:t>
            </a:r>
            <a:br/>
            <a:br/>
            <a:r>
              <a:rPr sz="1000">
                <a:solidFill>
                  <a:srgbClr val="282828"/>
                </a:solidFill>
                <a:latin typeface="Consolas"/>
              </a:rPr>
              <a:t>section.page_width = Cm(21.59)</a:t>
            </a:r>
            <a:br/>
            <a:r>
              <a:rPr sz="1000">
                <a:solidFill>
                  <a:srgbClr val="282828"/>
                </a:solidFill>
                <a:latin typeface="Consolas"/>
              </a:rPr>
              <a:t>section.page_height = Cm(27.94)</a:t>
            </a:r>
            <a:br/>
            <a:r>
              <a:rPr sz="1000">
                <a:solidFill>
                  <a:srgbClr val="282828"/>
                </a:solidFill>
                <a:latin typeface="Consolas"/>
              </a:rPr>
              <a:t>set_paragraph_top_border(footer)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46520"/>
            <a:ext cx="11201400" cy="9144"/>
          </a:xfrm>
          <a:prstGeom prst="rect">
            <a:avLst/>
          </a:prstGeom>
          <a:solidFill>
            <a:srgbClr val="A0A0A0"/>
          </a:solidFill>
          <a:ln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1201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95959"/>
                </a:solidFill>
                <a:latin typeface="Arial"/>
              </a:rPr>
              <a:t>AI-final-report code explanation | https://github.com/IssaIssa-tech/AI-final-report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4E79"/>
                </a:solidFill>
                <a:latin typeface="Arial"/>
              </a:rPr>
              <a:t>7. compare_chinaxiv_layout.py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95959"/>
                </a:solidFill>
                <a:latin typeface="Arial"/>
              </a:rPr>
              <a:t>Purpose: compare final PDF layout with the ChinaXiv sample.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Uses PyMuPDF to read PDF page dimensions, text boxes, font sizes, and fonts.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Compares the provided sample against the final PDF.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Writes docs/chinaxiv_sample_comparison.md.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Verified page size: 612 x 792 pt, matching the sample.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Arial"/>
              </a:rPr>
              <a:t>Verified side margins are close to the sample: about 133 pt.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234440"/>
            <a:ext cx="5120640" cy="4389120"/>
          </a:xfrm>
          <a:prstGeom prst="rect">
            <a:avLst/>
          </a:prstGeom>
          <a:solidFill>
            <a:srgbClr val="F5F5F5"/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282828"/>
                </a:solidFill>
                <a:latin typeface="Consolas"/>
              </a:rPr>
              <a:t>doc = fitz.open(path)</a:t>
            </a:r>
            <a:br/>
            <a:r>
              <a:rPr sz="1000">
                <a:solidFill>
                  <a:srgbClr val="282828"/>
                </a:solidFill>
                <a:latin typeface="Consolas"/>
              </a:rPr>
              <a:t>page_width_pt = round(page.rect.width, 1)</a:t>
            </a:r>
            <a:br/>
            <a:r>
              <a:rPr sz="1000">
                <a:solidFill>
                  <a:srgbClr val="282828"/>
                </a:solidFill>
                <a:latin typeface="Consolas"/>
              </a:rPr>
              <a:t>left = min(span["bbox"][0] for span in spans)</a:t>
            </a:r>
            <a:br/>
            <a:r>
              <a:rPr sz="1000">
                <a:solidFill>
                  <a:srgbClr val="282828"/>
                </a:solidFill>
                <a:latin typeface="Consolas"/>
              </a:rPr>
              <a:t>right = width - max(span["bbox"][2] for span in spans)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46520"/>
            <a:ext cx="11201400" cy="9144"/>
          </a:xfrm>
          <a:prstGeom prst="rect">
            <a:avLst/>
          </a:prstGeom>
          <a:solidFill>
            <a:srgbClr val="A0A0A0"/>
          </a:solidFill>
          <a:ln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1201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95959"/>
                </a:solidFill>
                <a:latin typeface="Arial"/>
              </a:rPr>
              <a:t>AI-final-report code explanation | https://github.com/IssaIssa-tech/AI-final-report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4E79"/>
                </a:solidFill>
                <a:latin typeface="Arial"/>
              </a:rPr>
              <a:t>8. Why There Is No Training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95959"/>
                </a:solidFill>
                <a:latin typeface="Arial"/>
              </a:rPr>
              <a:t>This is an important defense answer.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Arial"/>
              </a:rPr>
              <a:t>The project is a survey paper, not an original model-training experiment.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Arial"/>
              </a:rPr>
              <a:t>Adding fake training or fake benchmark numbers would violate the paper instructions.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Arial"/>
              </a:rPr>
              <a:t>The included code supports reproducibility of the survey artifacts.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Arial"/>
              </a:rPr>
              <a:t>If original experiments are added later, src/training, src/evaluation, and configs must be expanded with real model code, seeds, logs, and hardware details.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46520"/>
            <a:ext cx="11201400" cy="9144"/>
          </a:xfrm>
          <a:prstGeom prst="rect">
            <a:avLst/>
          </a:prstGeom>
          <a:solidFill>
            <a:srgbClr val="A0A0A0"/>
          </a:solidFill>
          <a:ln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201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95959"/>
                </a:solidFill>
                <a:latin typeface="Arial"/>
              </a:rPr>
              <a:t>AI-final-report code explanation | https://github.com/IssaIssa-tech/AI-final-report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4E79"/>
                </a:solidFill>
                <a:latin typeface="Arial"/>
              </a:rPr>
              <a:t>9. Repository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95959"/>
                </a:solidFill>
                <a:latin typeface="Arial"/>
              </a:rPr>
              <a:t>Where to find the code and outputs.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34440"/>
            <a:ext cx="3474720" cy="1554480"/>
          </a:xfrm>
          <a:prstGeom prst="roundRect">
            <a:avLst/>
          </a:prstGeom>
          <a:solidFill>
            <a:srgbClr val="DDEB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1F4E79"/>
                </a:solidFill>
                <a:latin typeface="Arial"/>
              </a:rPr>
              <a:t>scripts/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all executable reproducibility scripts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formatting, figures, tables, validation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234440"/>
            <a:ext cx="3474720" cy="1554480"/>
          </a:xfrm>
          <a:prstGeom prst="roundRect">
            <a:avLst/>
          </a:prstGeom>
          <a:solidFill>
            <a:srgbClr val="DDEB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1F4E79"/>
                </a:solidFill>
                <a:latin typeface="Arial"/>
              </a:rPr>
              <a:t>paper/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paper.md source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references.bib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final DOCX/PDF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tables and figures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234440"/>
            <a:ext cx="3474720" cy="1554480"/>
          </a:xfrm>
          <a:prstGeom prst="roundRect">
            <a:avLst/>
          </a:prstGeom>
          <a:solidFill>
            <a:srgbClr val="DDEB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1F4E79"/>
                </a:solidFill>
                <a:latin typeface="Arial"/>
              </a:rPr>
              <a:t>src/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reserved package structure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models, preprocessing, training, evaluation, inference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154680"/>
            <a:ext cx="3474720" cy="1417320"/>
          </a:xfrm>
          <a:prstGeom prst="roundRect">
            <a:avLst/>
          </a:prstGeom>
          <a:solidFill>
            <a:srgbClr val="DDEB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1F4E79"/>
                </a:solidFill>
                <a:latin typeface="Arial"/>
              </a:rPr>
              <a:t>docs/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layout comparison report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this PowerPoint presentation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3154680"/>
            <a:ext cx="3474720" cy="1417320"/>
          </a:xfrm>
          <a:prstGeom prst="roundRect">
            <a:avLst/>
          </a:prstGeom>
          <a:solidFill>
            <a:srgbClr val="DDEB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1F4E79"/>
                </a:solidFill>
                <a:latin typeface="Arial"/>
              </a:rPr>
              <a:t>configs/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literature_review.yaml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paper metadata and policy flags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3154680"/>
            <a:ext cx="3474720" cy="1417320"/>
          </a:xfrm>
          <a:prstGeom prst="roundRect">
            <a:avLst/>
          </a:prstGeom>
          <a:solidFill>
            <a:srgbClr val="DDEB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1F4E79"/>
                </a:solidFill>
                <a:latin typeface="Arial"/>
              </a:rPr>
              <a:t>environment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requirements.txt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environment.yml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22222"/>
                </a:solidFill>
                <a:latin typeface="Arial"/>
              </a:rPr>
              <a:t>reproducible dependencies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446520"/>
            <a:ext cx="11201400" cy="9144"/>
          </a:xfrm>
          <a:prstGeom prst="rect">
            <a:avLst/>
          </a:prstGeom>
          <a:solidFill>
            <a:srgbClr val="A0A0A0"/>
          </a:solidFill>
          <a:ln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10528"/>
            <a:ext cx="11201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95959"/>
                </a:solidFill>
                <a:latin typeface="Arial"/>
              </a:rPr>
              <a:t>AI-final-report code explanation | https://github.com/IssaIssa-tech/AI-final-report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4E79"/>
                </a:solidFill>
                <a:latin typeface="Arial"/>
              </a:rPr>
              <a:t>10. Likely Questions and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95959"/>
                </a:solidFill>
                <a:latin typeface="Arial"/>
              </a:rPr>
              <a:t>Use these short answers in your defense.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Arial"/>
              </a:rPr>
              <a:t>Q: What programming language did you use?</a:t>
            </a:r>
            <a:br/>
            <a:r>
              <a:t>A: Python. The scripts use python-docx, matplotlib, PyMuPDF, csv, pathlib, and regular expressions.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Arial"/>
              </a:rPr>
              <a:t>Q: What is the most important script?</a:t>
            </a:r>
            <a:br/>
            <a:r>
              <a:t>A: format_chinaxiv.py, because it converts the draft into the final ChinaXiv-style manuscript.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Arial"/>
              </a:rPr>
              <a:t>Q: How did you avoid fake references?</a:t>
            </a:r>
            <a:br/>
            <a:r>
              <a:t>A: validate_references.py checks that every citation key in paper.md exists in references.bib.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Arial"/>
              </a:rPr>
              <a:t>Q: Are the figures real?</a:t>
            </a:r>
            <a:br/>
            <a:r>
              <a:t>A: Yes. They are generated from the model and benchmark taxonomy CSV files, not invented results.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46520"/>
            <a:ext cx="11201400" cy="9144"/>
          </a:xfrm>
          <a:prstGeom prst="rect">
            <a:avLst/>
          </a:prstGeom>
          <a:solidFill>
            <a:srgbClr val="A0A0A0"/>
          </a:solidFill>
          <a:ln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201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95959"/>
                </a:solidFill>
                <a:latin typeface="Arial"/>
              </a:rPr>
              <a:t>AI-final-report code explanation | https://github.com/IssaIssa-tech/AI-final-report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4E79"/>
                </a:solidFill>
                <a:latin typeface="Arial"/>
              </a:rPr>
              <a:t>11. More Defense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95959"/>
                </a:solidFill>
                <a:latin typeface="Arial"/>
              </a:rPr>
              <a:t>Answers for reproducibility and limitations.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Arial"/>
              </a:rPr>
              <a:t>Q: Why did you not train an MLLM?</a:t>
            </a:r>
            <a:br/>
            <a:r>
              <a:t>A: The assignment output is a survey paper. Training would require datasets, model checkpoints, compute logs, seeds, and executed results.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Arial"/>
              </a:rPr>
              <a:t>Q: How can another person reproduce your outputs?</a:t>
            </a:r>
            <a:br/>
            <a:r>
              <a:t>A: Install requirements, then run validate_references.py, generate_tables.py, generate_figures.py, format_chinaxiv.py, and compare_chinaxiv_layout.py.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Arial"/>
              </a:rPr>
              <a:t>Q: What did the layout comparison check?</a:t>
            </a:r>
            <a:br/>
            <a:r>
              <a:t>A: Page size, approximate margins, font sizes, and common PDF fonts against the provided ChinaXiv sample.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22222"/>
                </a:solidFill>
                <a:latin typeface="Arial"/>
              </a:rPr>
              <a:t>Q: What is the GitHub link?</a:t>
            </a:r>
            <a:br/>
            <a:r>
              <a:t>A: https://github.com/IssaIssa-tech/AI-final-report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46520"/>
            <a:ext cx="11201400" cy="9144"/>
          </a:xfrm>
          <a:prstGeom prst="rect">
            <a:avLst/>
          </a:prstGeom>
          <a:solidFill>
            <a:srgbClr val="A0A0A0"/>
          </a:solidFill>
          <a:ln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201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95959"/>
                </a:solidFill>
                <a:latin typeface="Arial"/>
              </a:rPr>
              <a:t>AI-final-report code explanation | https://github.com/IssaIssa-tech/AI-final-report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4E79"/>
                </a:solidFill>
                <a:latin typeface="Arial"/>
              </a:rPr>
              <a:t>12. Commands to Demonstrate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95959"/>
                </a:solidFill>
                <a:latin typeface="Arial"/>
              </a:rPr>
              <a:t>These commands prove the source code is usable.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234440"/>
            <a:ext cx="10698480" cy="4206240"/>
          </a:xfrm>
          <a:prstGeom prst="rect">
            <a:avLst/>
          </a:prstGeom>
          <a:solidFill>
            <a:srgbClr val="F5F5F5"/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282828"/>
                </a:solidFill>
                <a:latin typeface="Consolas"/>
              </a:rPr>
              <a:t>pip install -r requirements.txt</a:t>
            </a:r>
            <a:br/>
            <a:br/>
            <a:r>
              <a:rPr sz="1000">
                <a:solidFill>
                  <a:srgbClr val="282828"/>
                </a:solidFill>
                <a:latin typeface="Consolas"/>
              </a:rPr>
              <a:t>python scripts/validate_references.py</a:t>
            </a:r>
            <a:br/>
            <a:r>
              <a:rPr sz="1000">
                <a:solidFill>
                  <a:srgbClr val="282828"/>
                </a:solidFill>
                <a:latin typeface="Consolas"/>
              </a:rPr>
              <a:t>python scripts/generate_tables.py</a:t>
            </a:r>
            <a:br/>
            <a:r>
              <a:rPr sz="1000">
                <a:solidFill>
                  <a:srgbClr val="282828"/>
                </a:solidFill>
                <a:latin typeface="Consolas"/>
              </a:rPr>
              <a:t>python scripts/generate_figures.py</a:t>
            </a:r>
            <a:br/>
            <a:r>
              <a:rPr sz="1000">
                <a:solidFill>
                  <a:srgbClr val="282828"/>
                </a:solidFill>
                <a:latin typeface="Consolas"/>
              </a:rPr>
              <a:t>python scripts/format_chinaxiv.py</a:t>
            </a:r>
            <a:br/>
            <a:r>
              <a:rPr sz="1000">
                <a:solidFill>
                  <a:srgbClr val="282828"/>
                </a:solidFill>
                <a:latin typeface="Consolas"/>
              </a:rPr>
              <a:t>python scripts/compare_chinaxiv_layout.py</a:t>
            </a:r>
            <a:br/>
            <a:br/>
            <a:r>
              <a:rPr sz="1000">
                <a:solidFill>
                  <a:srgbClr val="282828"/>
                </a:solidFill>
                <a:latin typeface="Consolas"/>
              </a:rPr>
              <a:t>git log --oneline -3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0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222222"/>
                </a:solidFill>
                <a:latin typeface="Arial"/>
              </a:rPr>
              <a:t>Expected validation result: 67 citation keys, 67 bibliography entries, reference validation passed.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46520"/>
            <a:ext cx="11201400" cy="9144"/>
          </a:xfrm>
          <a:prstGeom prst="rect">
            <a:avLst/>
          </a:prstGeom>
          <a:solidFill>
            <a:srgbClr val="A0A0A0"/>
          </a:solidFill>
          <a:ln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1201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95959"/>
                </a:solidFill>
                <a:latin typeface="Arial"/>
              </a:rPr>
              <a:t>AI-final-report code explanation | https://github.com/IssaIssa-tech/AI-final-report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4E79"/>
                </a:solidFill>
                <a:latin typeface="Arial"/>
              </a:rPr>
              <a:t>13. Final Defense Message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95959"/>
                </a:solidFill>
                <a:latin typeface="Arial"/>
              </a:rPr>
              <a:t>One clear statement to finish with.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Arial"/>
              </a:rPr>
              <a:t>This codebase does not claim artificial training results.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Arial"/>
              </a:rPr>
              <a:t>It makes the survey reproducible by generating and checking the bibliography, tables, figures, formatting, and layout comparison.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222222"/>
                </a:solidFill>
                <a:latin typeface="Arial"/>
              </a:rPr>
              <a:t>The final paper, source code, figures, and validation scripts are available in the GitHub repository.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46520"/>
            <a:ext cx="11201400" cy="9144"/>
          </a:xfrm>
          <a:prstGeom prst="rect">
            <a:avLst/>
          </a:prstGeom>
          <a:solidFill>
            <a:srgbClr val="A0A0A0"/>
          </a:solidFill>
          <a:ln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201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95959"/>
                </a:solidFill>
                <a:latin typeface="Arial"/>
              </a:rPr>
              <a:t>AI-final-report code explanation | https://github.com/IssaIssa-tech/AI-final-report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